
<file path=[Content_Types].xml><?xml version="1.0" encoding="utf-8"?>
<Types xmlns="http://schemas.openxmlformats.org/package/2006/content-types">
  <Default Extension="jpe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20"/>
  </p:handoutMasterIdLst>
  <p:sldIdLst>
    <p:sldId id="256" r:id="rId3"/>
    <p:sldId id="257" r:id="rId4"/>
    <p:sldId id="258" r:id="rId5"/>
    <p:sldId id="281" r:id="rId6"/>
    <p:sldId id="282" r:id="rId7"/>
    <p:sldId id="259" r:id="rId8"/>
    <p:sldId id="265" r:id="rId9"/>
    <p:sldId id="266" r:id="rId10"/>
    <p:sldId id="270" r:id="rId11"/>
    <p:sldId id="268" r:id="rId13"/>
    <p:sldId id="261" r:id="rId14"/>
    <p:sldId id="272" r:id="rId15"/>
    <p:sldId id="280" r:id="rId16"/>
    <p:sldId id="262" r:id="rId17"/>
    <p:sldId id="279" r:id="rId18"/>
    <p:sldId id="264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æ·±è²æ ·å¼ 1 - å¼ºè°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z(\</a:t>
            </a:r>
            <a:r>
              <a:rPr lang="en-GB" dirty="0" err="1"/>
              <a:t>mathbf</a:t>
            </a:r>
            <a:r>
              <a:rPr lang="en-GB" dirty="0"/>
              <a:t> x)=\</a:t>
            </a:r>
            <a:r>
              <a:rPr lang="en-GB" dirty="0" err="1"/>
              <a:t>sum_i</a:t>
            </a:r>
            <a:r>
              <a:rPr lang="en-GB" dirty="0"/>
              <a:t>\</a:t>
            </a:r>
            <a:r>
              <a:rPr lang="en-GB" dirty="0" err="1"/>
              <a:t>alpha_i</a:t>
            </a:r>
            <a:r>
              <a:rPr lang="en-GB" dirty="0"/>
              <a:t> </a:t>
            </a:r>
            <a:r>
              <a:rPr lang="en-GB" dirty="0" err="1"/>
              <a:t>z_i</a:t>
            </a:r>
            <a:r>
              <a:rPr lang="en-GB" dirty="0"/>
              <a:t> \left&lt;\phi(\</a:t>
            </a:r>
            <a:r>
              <a:rPr lang="en-GB" dirty="0" err="1"/>
              <a:t>mathbf</a:t>
            </a:r>
            <a:r>
              <a:rPr lang="en-GB" dirty="0"/>
              <a:t> </a:t>
            </a:r>
            <a:r>
              <a:rPr lang="en-GB" dirty="0" err="1"/>
              <a:t>x_i</a:t>
            </a:r>
            <a:r>
              <a:rPr lang="en-GB" dirty="0"/>
              <a:t>), \phi(\</a:t>
            </a:r>
            <a:r>
              <a:rPr lang="en-GB" dirty="0" err="1"/>
              <a:t>mathbf</a:t>
            </a:r>
            <a:r>
              <a:rPr lang="en-GB" dirty="0"/>
              <a:t> x)\right&gt;=\</a:t>
            </a:r>
            <a:r>
              <a:rPr lang="en-GB" dirty="0" err="1"/>
              <a:t>sum_i</a:t>
            </a:r>
            <a:r>
              <a:rPr lang="en-GB" dirty="0"/>
              <a:t>\</a:t>
            </a:r>
            <a:r>
              <a:rPr lang="en-GB" dirty="0" err="1"/>
              <a:t>alpha_i</a:t>
            </a:r>
            <a:r>
              <a:rPr lang="en-GB" dirty="0"/>
              <a:t> </a:t>
            </a:r>
            <a:r>
              <a:rPr lang="en-GB" dirty="0" err="1"/>
              <a:t>z_i</a:t>
            </a:r>
            <a:r>
              <a:rPr lang="en-GB" dirty="0"/>
              <a:t> \kappa(\</a:t>
            </a:r>
            <a:r>
              <a:rPr lang="en-GB" dirty="0" err="1"/>
              <a:t>mathbf</a:t>
            </a:r>
            <a:r>
              <a:rPr lang="en-GB" dirty="0"/>
              <a:t> </a:t>
            </a:r>
            <a:r>
              <a:rPr lang="en-GB" dirty="0" err="1"/>
              <a:t>x_i</a:t>
            </a:r>
            <a:r>
              <a:rPr lang="en-GB" dirty="0"/>
              <a:t>,\</a:t>
            </a:r>
            <a:r>
              <a:rPr lang="en-GB" dirty="0" err="1"/>
              <a:t>mathbf</a:t>
            </a:r>
            <a:r>
              <a:rPr lang="en-GB" dirty="0"/>
              <a:t> </a:t>
            </a:r>
            <a:r>
              <a:rPr lang="en-GB" dirty="0" err="1"/>
              <a:t>x_i</a:t>
            </a:r>
            <a:r>
              <a:rPr lang="en-GB" dirty="0"/>
              <a:t>)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E548B5-9CBC-D742-AA5C-FE7C458C107F}" type="slidenum">
              <a:rPr lang="de-DE" smtClean="0"/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\kappa(\</a:t>
            </a:r>
            <a:r>
              <a:rPr lang="en-GB" dirty="0" err="1"/>
              <a:t>mathbf</a:t>
            </a:r>
            <a:r>
              <a:rPr lang="en-GB" dirty="0"/>
              <a:t> x_1, \</a:t>
            </a:r>
            <a:r>
              <a:rPr lang="en-GB" dirty="0" err="1"/>
              <a:t>mathbf</a:t>
            </a:r>
            <a:r>
              <a:rPr lang="en-GB" dirty="0"/>
              <a:t> x_2)_\</a:t>
            </a:r>
            <a:r>
              <a:rPr lang="en-GB" dirty="0" err="1"/>
              <a:t>mathrm</a:t>
            </a:r>
            <a:r>
              <a:rPr lang="en-GB" dirty="0"/>
              <a:t>{Poly}=(1+\</a:t>
            </a:r>
            <a:r>
              <a:rPr lang="en-GB" dirty="0" err="1"/>
              <a:t>mathbf</a:t>
            </a:r>
            <a:r>
              <a:rPr lang="en-GB" dirty="0"/>
              <a:t> x_1^\</a:t>
            </a:r>
            <a:r>
              <a:rPr lang="en-GB" dirty="0" err="1"/>
              <a:t>mathsf</a:t>
            </a:r>
            <a:r>
              <a:rPr lang="en-GB" dirty="0"/>
              <a:t> T\</a:t>
            </a:r>
            <a:r>
              <a:rPr lang="en-GB" dirty="0" err="1"/>
              <a:t>mathbf</a:t>
            </a:r>
            <a:r>
              <a:rPr lang="en-GB" dirty="0"/>
              <a:t> x_2)^p</a:t>
            </a:r>
            <a:endParaRPr lang="en-GB" dirty="0"/>
          </a:p>
          <a:p>
            <a:endParaRPr lang="en-GB" dirty="0"/>
          </a:p>
          <a:p>
            <a:r>
              <a:rPr lang="en-GB" dirty="0"/>
              <a:t>\kappa(\</a:t>
            </a:r>
            <a:r>
              <a:rPr lang="en-GB" dirty="0" err="1"/>
              <a:t>mathbf</a:t>
            </a:r>
            <a:r>
              <a:rPr lang="en-GB" dirty="0"/>
              <a:t> x_1, \</a:t>
            </a:r>
            <a:r>
              <a:rPr lang="en-GB" dirty="0" err="1"/>
              <a:t>mathbf</a:t>
            </a:r>
            <a:r>
              <a:rPr lang="en-GB" dirty="0"/>
              <a:t> x_2)_\</a:t>
            </a:r>
            <a:r>
              <a:rPr lang="en-GB" dirty="0" err="1"/>
              <a:t>mathrm</a:t>
            </a:r>
            <a:r>
              <a:rPr lang="en-GB" dirty="0"/>
              <a:t>{Radial}=\</a:t>
            </a:r>
            <a:r>
              <a:rPr lang="en-GB" dirty="0" err="1"/>
              <a:t>exp</a:t>
            </a:r>
            <a:r>
              <a:rPr lang="en-GB" dirty="0"/>
              <a:t>(\</a:t>
            </a:r>
            <a:r>
              <a:rPr lang="en-GB" dirty="0" err="1"/>
              <a:t>frac</a:t>
            </a:r>
            <a:r>
              <a:rPr lang="en-GB" dirty="0"/>
              <a:t>{||\</a:t>
            </a:r>
            <a:r>
              <a:rPr lang="en-GB" dirty="0" err="1"/>
              <a:t>mathbf</a:t>
            </a:r>
            <a:r>
              <a:rPr lang="en-GB" dirty="0"/>
              <a:t> x_1-\</a:t>
            </a:r>
            <a:r>
              <a:rPr lang="en-GB" dirty="0" err="1"/>
              <a:t>mathbf</a:t>
            </a:r>
            <a:r>
              <a:rPr lang="en-GB" dirty="0"/>
              <a:t> x_2||^2}{2\sigma})</a:t>
            </a:r>
            <a:endParaRPr lang="en-GB" dirty="0"/>
          </a:p>
          <a:p>
            <a:endParaRPr lang="en-GB" dirty="0"/>
          </a:p>
          <a:p>
            <a:r>
              <a:rPr lang="en-GB" dirty="0"/>
              <a:t>\kappa(\</a:t>
            </a:r>
            <a:r>
              <a:rPr lang="en-GB" dirty="0" err="1"/>
              <a:t>mathbf</a:t>
            </a:r>
            <a:r>
              <a:rPr lang="en-GB" dirty="0"/>
              <a:t> x_1, \</a:t>
            </a:r>
            <a:r>
              <a:rPr lang="en-GB" dirty="0" err="1"/>
              <a:t>mathbf</a:t>
            </a:r>
            <a:r>
              <a:rPr lang="en-GB" dirty="0"/>
              <a:t> x_2)_\</a:t>
            </a:r>
            <a:r>
              <a:rPr lang="en-GB" dirty="0" err="1"/>
              <a:t>mathrm</a:t>
            </a:r>
            <a:r>
              <a:rPr lang="en-GB" dirty="0"/>
              <a:t>{Sigmoid}=\tanh(\beta_0+\beta_1\</a:t>
            </a:r>
            <a:r>
              <a:rPr lang="en-GB" dirty="0" err="1"/>
              <a:t>mathbf</a:t>
            </a:r>
            <a:r>
              <a:rPr lang="en-GB" dirty="0"/>
              <a:t> x_1^\</a:t>
            </a:r>
            <a:r>
              <a:rPr lang="en-GB" dirty="0" err="1"/>
              <a:t>mathsf</a:t>
            </a:r>
            <a:r>
              <a:rPr lang="en-GB" dirty="0"/>
              <a:t> T\</a:t>
            </a:r>
            <a:r>
              <a:rPr lang="en-GB" dirty="0" err="1"/>
              <a:t>mathbf</a:t>
            </a:r>
            <a:r>
              <a:rPr lang="en-GB" dirty="0"/>
              <a:t> x_2)</a:t>
            </a:r>
            <a:endParaRPr lang="en-GB" dirty="0"/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E548B5-9CBC-D742-AA5C-FE7C458C107F}" type="slidenum">
              <a:rPr lang="de-DE" smtClean="0"/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tiff"/><Relationship Id="rId1" Type="http://schemas.openxmlformats.org/officeDocument/2006/relationships/image" Target="../media/image1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tiff"/><Relationship Id="rId1" Type="http://schemas.openxmlformats.org/officeDocument/2006/relationships/image" Target="../media/image3.tif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tiff"/><Relationship Id="rId1" Type="http://schemas.openxmlformats.org/officeDocument/2006/relationships/image" Target="../media/image5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tiff"/><Relationship Id="rId1" Type="http://schemas.openxmlformats.org/officeDocument/2006/relationships/image" Target="../media/image6.tif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tiff"/><Relationship Id="rId1" Type="http://schemas.openxmlformats.org/officeDocument/2006/relationships/image" Target="../media/image8.tiff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image" Target="../media/image10.tif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Classification</a:t>
            </a:r>
            <a:br>
              <a:rPr lang="en-US" altLang="en-US"/>
            </a:br>
            <a:r>
              <a:rPr lang="en-US" altLang="en-US"/>
              <a:t>Lab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250825" y="6198235"/>
            <a:ext cx="1826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Luca Morreale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classifier</a:t>
            </a:r>
            <a:endParaRPr lang="de-DE" dirty="0"/>
          </a:p>
        </p:txBody>
      </p:sp>
      <p:pic>
        <p:nvPicPr>
          <p:cNvPr id="20" name="Grafik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7670" y="3501949"/>
            <a:ext cx="2802356" cy="625643"/>
          </a:xfrm>
          <a:prstGeom prst="rect">
            <a:avLst/>
          </a:prstGeom>
        </p:spPr>
      </p:pic>
      <p:pic>
        <p:nvPicPr>
          <p:cNvPr id="21" name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788" y="1975696"/>
            <a:ext cx="6256424" cy="1096866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816475" y="6372860"/>
            <a:ext cx="2559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 dirty="0">
                <a:sym typeface="+mn-ea"/>
              </a:rPr>
              <a:t>Taken </a:t>
            </a:r>
            <a:r>
              <a:rPr lang="en-US" altLang="en-GB" sz="1200" dirty="0">
                <a:sym typeface="+mn-ea"/>
              </a:rPr>
              <a:t>from </a:t>
            </a:r>
            <a:r>
              <a:rPr lang="en-GB" sz="1200" dirty="0">
                <a:sym typeface="+mn-ea"/>
              </a:rPr>
              <a:t>Tobias Ritschel </a:t>
            </a:r>
            <a:r>
              <a:rPr lang="en-US" altLang="en-GB" sz="1200" dirty="0">
                <a:sym typeface="+mn-ea"/>
              </a:rPr>
              <a:t>Slides</a:t>
            </a:r>
            <a:endParaRPr lang="en-US" altLang="en-GB" sz="1200" dirty="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el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dirty="0"/>
              <a:t>Optimization</a:t>
            </a:r>
            <a:endParaRPr lang="en-GB" dirty="0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6027"/>
          </a:xfrm>
        </p:spPr>
        <p:txBody>
          <a:bodyPr/>
          <a:p>
            <a:r>
              <a:rPr lang="en-GB" dirty="0"/>
              <a:t>Finding w is a least squares (LS) problem</a:t>
            </a:r>
            <a:endParaRPr lang="en-GB" dirty="0"/>
          </a:p>
        </p:txBody>
      </p:sp>
      <p:pic>
        <p:nvPicPr>
          <p:cNvPr id="9" name="Grafik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5228" y="4793543"/>
            <a:ext cx="3300175" cy="470055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402" y="3375574"/>
            <a:ext cx="5095195" cy="964102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816475" y="6372860"/>
            <a:ext cx="2559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 dirty="0">
                <a:sym typeface="+mn-ea"/>
              </a:rPr>
              <a:t>Taken </a:t>
            </a:r>
            <a:r>
              <a:rPr lang="en-US" altLang="en-GB" sz="1200" dirty="0">
                <a:sym typeface="+mn-ea"/>
              </a:rPr>
              <a:t>from </a:t>
            </a:r>
            <a:r>
              <a:rPr lang="en-GB" sz="1200" dirty="0">
                <a:sym typeface="+mn-ea"/>
              </a:rPr>
              <a:t>Tobias Ritschel </a:t>
            </a:r>
            <a:r>
              <a:rPr lang="en-US" altLang="en-GB" sz="1200" dirty="0">
                <a:sym typeface="+mn-ea"/>
              </a:rPr>
              <a:t>Slides</a:t>
            </a:r>
            <a:endParaRPr lang="en-US" altLang="en-GB" sz="1200" dirty="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Decision boundary</a:t>
            </a:r>
            <a:endParaRPr lang="" altLang="en-US"/>
          </a:p>
        </p:txBody>
      </p:sp>
      <p:pic>
        <p:nvPicPr>
          <p:cNvPr id="4" name="Picture 3" descr="iris_line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0050" y="1073150"/>
            <a:ext cx="6311900" cy="4711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Decision boundary</a:t>
            </a:r>
            <a:endParaRPr lang="en-US"/>
          </a:p>
        </p:txBody>
      </p:sp>
      <p:pic>
        <p:nvPicPr>
          <p:cNvPr id="4" name="Picture 3" descr="circle_datas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6400" y="1073150"/>
            <a:ext cx="6299200" cy="4711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Logistic Regression</a:t>
            </a:r>
            <a:endParaRPr lang="en-US" altLang="en-US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86452"/>
          </a:xfrm>
        </p:spPr>
        <p:txBody>
          <a:bodyPr/>
          <a:lstStyle/>
          <a:p>
            <a:r>
              <a:rPr lang="en-GB" dirty="0"/>
              <a:t>Finding </a:t>
            </a:r>
            <a:r>
              <a:rPr lang="en-GB" b="1" dirty="0">
                <a:latin typeface="Times" pitchFamily="2" charset="0"/>
              </a:rPr>
              <a:t>w</a:t>
            </a:r>
            <a:r>
              <a:rPr lang="en-GB" dirty="0"/>
              <a:t> now required non-linear least squares (e.g. Gradient descent)</a:t>
            </a:r>
            <a:endParaRPr lang="en-GB" dirty="0"/>
          </a:p>
          <a:p>
            <a:r>
              <a:rPr lang="en-GB" dirty="0"/>
              <a:t>Has analytic gradients</a:t>
            </a:r>
            <a:endParaRPr lang="en-GB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5774" y="4111515"/>
            <a:ext cx="3915651" cy="1017961"/>
          </a:xfrm>
          <a:prstGeom prst="rect">
            <a:avLst/>
          </a:prstGeom>
        </p:spPr>
      </p:pic>
      <p:pic>
        <p:nvPicPr>
          <p:cNvPr id="20" name="Grafik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670" y="3311449"/>
            <a:ext cx="2802356" cy="625643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816475" y="6372860"/>
            <a:ext cx="2559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 dirty="0">
                <a:sym typeface="+mn-ea"/>
              </a:rPr>
              <a:t>Taken </a:t>
            </a:r>
            <a:r>
              <a:rPr lang="en-US" altLang="en-GB" sz="1200" dirty="0">
                <a:sym typeface="+mn-ea"/>
              </a:rPr>
              <a:t>from </a:t>
            </a:r>
            <a:r>
              <a:rPr lang="en-GB" sz="1200" dirty="0">
                <a:sym typeface="+mn-ea"/>
              </a:rPr>
              <a:t>Tobias Ritschel </a:t>
            </a:r>
            <a:r>
              <a:rPr lang="en-US" altLang="en-GB" sz="1200" dirty="0">
                <a:sym typeface="+mn-ea"/>
              </a:rPr>
              <a:t>Slides</a:t>
            </a:r>
            <a:endParaRPr lang="en-US" altLang="en-GB" sz="1200" dirty="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ihandform 41"/>
          <p:cNvSpPr/>
          <p:nvPr/>
        </p:nvSpPr>
        <p:spPr>
          <a:xfrm>
            <a:off x="2700338" y="3086100"/>
            <a:ext cx="3629025" cy="2800350"/>
          </a:xfrm>
          <a:custGeom>
            <a:avLst/>
            <a:gdLst>
              <a:gd name="connsiteX0" fmla="*/ 0 w 3629025"/>
              <a:gd name="connsiteY0" fmla="*/ 642938 h 2800350"/>
              <a:gd name="connsiteX1" fmla="*/ 14287 w 3629025"/>
              <a:gd name="connsiteY1" fmla="*/ 14288 h 2800350"/>
              <a:gd name="connsiteX2" fmla="*/ 485775 w 3629025"/>
              <a:gd name="connsiteY2" fmla="*/ 0 h 2800350"/>
              <a:gd name="connsiteX3" fmla="*/ 3629025 w 3629025"/>
              <a:gd name="connsiteY3" fmla="*/ 1857375 h 2800350"/>
              <a:gd name="connsiteX4" fmla="*/ 3629025 w 3629025"/>
              <a:gd name="connsiteY4" fmla="*/ 2800350 h 2800350"/>
              <a:gd name="connsiteX5" fmla="*/ 2443162 w 3629025"/>
              <a:gd name="connsiteY5" fmla="*/ 2800350 h 2800350"/>
              <a:gd name="connsiteX6" fmla="*/ 0 w 3629025"/>
              <a:gd name="connsiteY6" fmla="*/ 642938 h 280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29025" h="2800350">
                <a:moveTo>
                  <a:pt x="0" y="642938"/>
                </a:moveTo>
                <a:lnTo>
                  <a:pt x="14287" y="14288"/>
                </a:lnTo>
                <a:lnTo>
                  <a:pt x="485775" y="0"/>
                </a:lnTo>
                <a:lnTo>
                  <a:pt x="3629025" y="1857375"/>
                </a:lnTo>
                <a:lnTo>
                  <a:pt x="3629025" y="2800350"/>
                </a:lnTo>
                <a:lnTo>
                  <a:pt x="2443162" y="2800350"/>
                </a:lnTo>
                <a:lnTo>
                  <a:pt x="0" y="6429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Gerade Verbindung mit Pfeil 26"/>
          <p:cNvCxnSpPr/>
          <p:nvPr/>
        </p:nvCxnSpPr>
        <p:spPr>
          <a:xfrm flipH="1" flipV="1">
            <a:off x="2502456" y="3522458"/>
            <a:ext cx="2841069" cy="2522627"/>
          </a:xfrm>
          <a:prstGeom prst="straightConnector1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Gerade Verbindung mit Pfeil 25"/>
          <p:cNvCxnSpPr/>
          <p:nvPr/>
        </p:nvCxnSpPr>
        <p:spPr>
          <a:xfrm flipH="1" flipV="1">
            <a:off x="3178577" y="3142328"/>
            <a:ext cx="3279786" cy="1837716"/>
          </a:xfrm>
          <a:prstGeom prst="straightConnector1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Support and Margin</a:t>
            </a:r>
            <a:endParaRPr lang="en-GB" dirty="0"/>
          </a:p>
        </p:txBody>
      </p:sp>
      <p:sp>
        <p:nvSpPr>
          <p:cNvPr id="36" name="Inhaltsplatzhalter 3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42929"/>
          </a:xfrm>
        </p:spPr>
        <p:txBody>
          <a:bodyPr/>
          <a:lstStyle/>
          <a:p>
            <a:r>
              <a:rPr lang="en-GB" b="1" dirty="0"/>
              <a:t>“Support vectors”</a:t>
            </a:r>
            <a:r>
              <a:rPr lang="en-GB" dirty="0"/>
              <a:t> is the exemplar subset that is hard to classify</a:t>
            </a:r>
            <a:endParaRPr lang="en-GB" dirty="0"/>
          </a:p>
          <a:p>
            <a:r>
              <a:rPr lang="en-GB" b="1" dirty="0"/>
              <a:t>“Margin”</a:t>
            </a:r>
            <a:r>
              <a:rPr lang="en-GB" dirty="0"/>
              <a:t> is the “street” between them</a:t>
            </a:r>
            <a:endParaRPr lang="en-GB" dirty="0"/>
          </a:p>
        </p:txBody>
      </p:sp>
      <p:cxnSp>
        <p:nvCxnSpPr>
          <p:cNvPr id="5" name="Gerade Verbindung mit Pfeil 4"/>
          <p:cNvCxnSpPr/>
          <p:nvPr/>
        </p:nvCxnSpPr>
        <p:spPr>
          <a:xfrm>
            <a:off x="2502455" y="5882617"/>
            <a:ext cx="3955907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3178577" y="4175657"/>
            <a:ext cx="145774" cy="145774"/>
          </a:xfrm>
          <a:prstGeom prst="ellipse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2978707" y="5467869"/>
            <a:ext cx="145774" cy="14577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3949051" y="4780198"/>
            <a:ext cx="145774" cy="145774"/>
          </a:xfrm>
          <a:prstGeom prst="ellipse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3753133" y="5228431"/>
            <a:ext cx="145774" cy="14577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5778022" y="4556268"/>
            <a:ext cx="145774" cy="14577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3679055" y="3338884"/>
            <a:ext cx="145774" cy="14577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5074317" y="3761490"/>
            <a:ext cx="145774" cy="14577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4518913" y="2996554"/>
            <a:ext cx="145774" cy="14577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Gerade Verbindung mit Pfeil 15"/>
          <p:cNvCxnSpPr/>
          <p:nvPr/>
        </p:nvCxnSpPr>
        <p:spPr>
          <a:xfrm flipV="1">
            <a:off x="2721115" y="2877285"/>
            <a:ext cx="0" cy="3167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/>
          <p:cNvSpPr txBox="1"/>
          <p:nvPr/>
        </p:nvSpPr>
        <p:spPr>
          <a:xfrm rot="2623501">
            <a:off x="1877171" y="3468596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Support</a:t>
            </a:r>
            <a:endParaRPr lang="en-GB" b="1" dirty="0"/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1631" y="3334606"/>
            <a:ext cx="1618644" cy="716250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8346042" y="3653263"/>
            <a:ext cx="145774" cy="145774"/>
          </a:xfrm>
          <a:prstGeom prst="ellipse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8346042" y="4236364"/>
            <a:ext cx="145774" cy="14577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feld 21"/>
          <p:cNvSpPr txBox="1"/>
          <p:nvPr/>
        </p:nvSpPr>
        <p:spPr>
          <a:xfrm>
            <a:off x="7351076" y="40916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Salmon</a:t>
            </a:r>
            <a:endParaRPr lang="en-GB" dirty="0"/>
          </a:p>
        </p:txBody>
      </p:sp>
      <p:sp>
        <p:nvSpPr>
          <p:cNvPr id="23" name="Textfeld 22"/>
          <p:cNvSpPr txBox="1"/>
          <p:nvPr/>
        </p:nvSpPr>
        <p:spPr>
          <a:xfrm>
            <a:off x="7432946" y="3522457"/>
            <a:ext cx="679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Trout</a:t>
            </a:r>
            <a:endParaRPr lang="en-GB" dirty="0"/>
          </a:p>
        </p:txBody>
      </p:sp>
      <p:sp>
        <p:nvSpPr>
          <p:cNvPr id="24" name="Rechteck 23"/>
          <p:cNvSpPr/>
          <p:nvPr/>
        </p:nvSpPr>
        <p:spPr>
          <a:xfrm>
            <a:off x="7275059" y="3387851"/>
            <a:ext cx="3134622" cy="12532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5" name="Grafik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712" y="4056858"/>
            <a:ext cx="1654985" cy="489640"/>
          </a:xfrm>
          <a:prstGeom prst="rect">
            <a:avLst/>
          </a:prstGeom>
        </p:spPr>
      </p:pic>
      <p:sp>
        <p:nvSpPr>
          <p:cNvPr id="41" name="Textfeld 40"/>
          <p:cNvSpPr txBox="1"/>
          <p:nvPr/>
        </p:nvSpPr>
        <p:spPr>
          <a:xfrm rot="1933545">
            <a:off x="6172863" y="4578541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Support</a:t>
            </a:r>
            <a:endParaRPr lang="en-GB" b="1" dirty="0"/>
          </a:p>
        </p:txBody>
      </p:sp>
      <p:sp>
        <p:nvSpPr>
          <p:cNvPr id="31" name="Textfeld 30"/>
          <p:cNvSpPr txBox="1"/>
          <p:nvPr/>
        </p:nvSpPr>
        <p:spPr>
          <a:xfrm>
            <a:off x="4156137" y="4301678"/>
            <a:ext cx="8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Margin</a:t>
            </a:r>
            <a:endParaRPr lang="en-GB" b="1" dirty="0"/>
          </a:p>
        </p:txBody>
      </p:sp>
      <p:sp>
        <p:nvSpPr>
          <p:cNvPr id="4" name="Text Box 3"/>
          <p:cNvSpPr txBox="1"/>
          <p:nvPr/>
        </p:nvSpPr>
        <p:spPr>
          <a:xfrm>
            <a:off x="4816475" y="6372860"/>
            <a:ext cx="2559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 dirty="0">
                <a:sym typeface="+mn-ea"/>
              </a:rPr>
              <a:t>Taken </a:t>
            </a:r>
            <a:r>
              <a:rPr lang="en-US" altLang="en-GB" sz="1200" dirty="0">
                <a:sym typeface="+mn-ea"/>
              </a:rPr>
              <a:t>from </a:t>
            </a:r>
            <a:r>
              <a:rPr lang="en-GB" sz="1200" dirty="0">
                <a:sym typeface="+mn-ea"/>
              </a:rPr>
              <a:t>Tobias Ritschel </a:t>
            </a:r>
            <a:r>
              <a:rPr lang="en-US" altLang="en-GB" sz="1200" dirty="0">
                <a:sym typeface="+mn-ea"/>
              </a:rPr>
              <a:t>Slides</a:t>
            </a:r>
            <a:endParaRPr lang="en-US" altLang="en-GB" sz="1200" dirty="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ihandform 41"/>
          <p:cNvSpPr/>
          <p:nvPr/>
        </p:nvSpPr>
        <p:spPr>
          <a:xfrm>
            <a:off x="171423" y="2828919"/>
            <a:ext cx="3629025" cy="2800350"/>
          </a:xfrm>
          <a:custGeom>
            <a:avLst/>
            <a:gdLst>
              <a:gd name="connsiteX0" fmla="*/ 0 w 3629025"/>
              <a:gd name="connsiteY0" fmla="*/ 642938 h 2800350"/>
              <a:gd name="connsiteX1" fmla="*/ 14287 w 3629025"/>
              <a:gd name="connsiteY1" fmla="*/ 14288 h 2800350"/>
              <a:gd name="connsiteX2" fmla="*/ 485775 w 3629025"/>
              <a:gd name="connsiteY2" fmla="*/ 0 h 2800350"/>
              <a:gd name="connsiteX3" fmla="*/ 3629025 w 3629025"/>
              <a:gd name="connsiteY3" fmla="*/ 1857375 h 2800350"/>
              <a:gd name="connsiteX4" fmla="*/ 3629025 w 3629025"/>
              <a:gd name="connsiteY4" fmla="*/ 2800350 h 2800350"/>
              <a:gd name="connsiteX5" fmla="*/ 2443162 w 3629025"/>
              <a:gd name="connsiteY5" fmla="*/ 2800350 h 2800350"/>
              <a:gd name="connsiteX6" fmla="*/ 0 w 3629025"/>
              <a:gd name="connsiteY6" fmla="*/ 642938 h 280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29025" h="2800350">
                <a:moveTo>
                  <a:pt x="0" y="642938"/>
                </a:moveTo>
                <a:lnTo>
                  <a:pt x="14287" y="14288"/>
                </a:lnTo>
                <a:lnTo>
                  <a:pt x="485775" y="0"/>
                </a:lnTo>
                <a:lnTo>
                  <a:pt x="3629025" y="1857375"/>
                </a:lnTo>
                <a:lnTo>
                  <a:pt x="3629025" y="2800350"/>
                </a:lnTo>
                <a:lnTo>
                  <a:pt x="2443162" y="2800350"/>
                </a:lnTo>
                <a:lnTo>
                  <a:pt x="0" y="6429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Gerade Verbindung mit Pfeil 26"/>
          <p:cNvCxnSpPr/>
          <p:nvPr/>
        </p:nvCxnSpPr>
        <p:spPr>
          <a:xfrm flipH="1" flipV="1">
            <a:off x="-26459" y="3265277"/>
            <a:ext cx="2841069" cy="2522627"/>
          </a:xfrm>
          <a:prstGeom prst="straightConnector1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Gerade Verbindung mit Pfeil 25"/>
          <p:cNvCxnSpPr/>
          <p:nvPr/>
        </p:nvCxnSpPr>
        <p:spPr>
          <a:xfrm flipH="1" flipV="1">
            <a:off x="649662" y="2885147"/>
            <a:ext cx="3279786" cy="1837716"/>
          </a:xfrm>
          <a:prstGeom prst="straightConnector1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Support and Margin</a:t>
            </a:r>
            <a:endParaRPr lang="en-GB" dirty="0"/>
          </a:p>
        </p:txBody>
      </p:sp>
      <p:sp>
        <p:nvSpPr>
          <p:cNvPr id="36" name="Inhaltsplatzhalter 3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2299"/>
          </a:xfrm>
        </p:spPr>
        <p:txBody>
          <a:bodyPr/>
          <a:lstStyle/>
          <a:p>
            <a:r>
              <a:rPr lang="en-GB" dirty="0"/>
              <a:t>Only the support vectors matter</a:t>
            </a:r>
            <a:endParaRPr lang="en-GB" dirty="0"/>
          </a:p>
        </p:txBody>
      </p:sp>
      <p:cxnSp>
        <p:nvCxnSpPr>
          <p:cNvPr id="5" name="Gerade Verbindung mit Pfeil 4"/>
          <p:cNvCxnSpPr/>
          <p:nvPr/>
        </p:nvCxnSpPr>
        <p:spPr>
          <a:xfrm>
            <a:off x="-26460" y="5625436"/>
            <a:ext cx="3955907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49662" y="3918476"/>
            <a:ext cx="145774" cy="145774"/>
          </a:xfrm>
          <a:prstGeom prst="ellipse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449792" y="5210688"/>
            <a:ext cx="145774" cy="14577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1420136" y="4523017"/>
            <a:ext cx="145774" cy="145774"/>
          </a:xfrm>
          <a:prstGeom prst="ellipse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1224218" y="4971250"/>
            <a:ext cx="145774" cy="14577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3249107" y="4299087"/>
            <a:ext cx="145774" cy="14577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1150140" y="3081703"/>
            <a:ext cx="145774" cy="14577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1445258" y="2889940"/>
            <a:ext cx="145774" cy="14577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1989998" y="2739373"/>
            <a:ext cx="145774" cy="14577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Gerade Verbindung mit Pfeil 15"/>
          <p:cNvCxnSpPr/>
          <p:nvPr/>
        </p:nvCxnSpPr>
        <p:spPr>
          <a:xfrm flipV="1">
            <a:off x="192200" y="2620104"/>
            <a:ext cx="0" cy="3167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ihandform 29"/>
          <p:cNvSpPr/>
          <p:nvPr/>
        </p:nvSpPr>
        <p:spPr>
          <a:xfrm>
            <a:off x="4327751" y="2850203"/>
            <a:ext cx="3629025" cy="2800350"/>
          </a:xfrm>
          <a:custGeom>
            <a:avLst/>
            <a:gdLst>
              <a:gd name="connsiteX0" fmla="*/ 0 w 3629025"/>
              <a:gd name="connsiteY0" fmla="*/ 642938 h 2800350"/>
              <a:gd name="connsiteX1" fmla="*/ 14287 w 3629025"/>
              <a:gd name="connsiteY1" fmla="*/ 14288 h 2800350"/>
              <a:gd name="connsiteX2" fmla="*/ 485775 w 3629025"/>
              <a:gd name="connsiteY2" fmla="*/ 0 h 2800350"/>
              <a:gd name="connsiteX3" fmla="*/ 3629025 w 3629025"/>
              <a:gd name="connsiteY3" fmla="*/ 1857375 h 2800350"/>
              <a:gd name="connsiteX4" fmla="*/ 3629025 w 3629025"/>
              <a:gd name="connsiteY4" fmla="*/ 2800350 h 2800350"/>
              <a:gd name="connsiteX5" fmla="*/ 2443162 w 3629025"/>
              <a:gd name="connsiteY5" fmla="*/ 2800350 h 2800350"/>
              <a:gd name="connsiteX6" fmla="*/ 0 w 3629025"/>
              <a:gd name="connsiteY6" fmla="*/ 642938 h 280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29025" h="2800350">
                <a:moveTo>
                  <a:pt x="0" y="642938"/>
                </a:moveTo>
                <a:lnTo>
                  <a:pt x="14287" y="14288"/>
                </a:lnTo>
                <a:lnTo>
                  <a:pt x="485775" y="0"/>
                </a:lnTo>
                <a:lnTo>
                  <a:pt x="3629025" y="1857375"/>
                </a:lnTo>
                <a:lnTo>
                  <a:pt x="3629025" y="2800350"/>
                </a:lnTo>
                <a:lnTo>
                  <a:pt x="2443162" y="2800350"/>
                </a:lnTo>
                <a:lnTo>
                  <a:pt x="0" y="6429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Gerade Verbindung mit Pfeil 31"/>
          <p:cNvCxnSpPr/>
          <p:nvPr/>
        </p:nvCxnSpPr>
        <p:spPr>
          <a:xfrm flipH="1" flipV="1">
            <a:off x="4129869" y="3286561"/>
            <a:ext cx="2841069" cy="2522627"/>
          </a:xfrm>
          <a:prstGeom prst="straightConnector1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" name="Gerade Verbindung mit Pfeil 32"/>
          <p:cNvCxnSpPr/>
          <p:nvPr/>
        </p:nvCxnSpPr>
        <p:spPr>
          <a:xfrm flipH="1" flipV="1">
            <a:off x="4805990" y="2906431"/>
            <a:ext cx="3279786" cy="1837716"/>
          </a:xfrm>
          <a:prstGeom prst="straightConnector1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Gerade Verbindung mit Pfeil 33"/>
          <p:cNvCxnSpPr/>
          <p:nvPr/>
        </p:nvCxnSpPr>
        <p:spPr>
          <a:xfrm>
            <a:off x="4129868" y="5646720"/>
            <a:ext cx="3955907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805990" y="3939760"/>
            <a:ext cx="145774" cy="145774"/>
          </a:xfrm>
          <a:prstGeom prst="ellipse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/>
          <p:cNvSpPr/>
          <p:nvPr/>
        </p:nvSpPr>
        <p:spPr>
          <a:xfrm>
            <a:off x="4606120" y="5231972"/>
            <a:ext cx="145774" cy="14577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/>
          <p:cNvSpPr/>
          <p:nvPr/>
        </p:nvSpPr>
        <p:spPr>
          <a:xfrm>
            <a:off x="5576464" y="4544301"/>
            <a:ext cx="145774" cy="145774"/>
          </a:xfrm>
          <a:prstGeom prst="ellipse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GB"/>
          </a:p>
        </p:txBody>
      </p:sp>
      <p:sp>
        <p:nvSpPr>
          <p:cNvPr id="44" name="Oval 43"/>
          <p:cNvSpPr/>
          <p:nvPr/>
        </p:nvSpPr>
        <p:spPr>
          <a:xfrm>
            <a:off x="5380546" y="4992534"/>
            <a:ext cx="145774" cy="14577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val 44"/>
          <p:cNvSpPr/>
          <p:nvPr/>
        </p:nvSpPr>
        <p:spPr>
          <a:xfrm>
            <a:off x="7405435" y="4320371"/>
            <a:ext cx="145774" cy="14577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GB"/>
          </a:p>
        </p:txBody>
      </p:sp>
      <p:sp>
        <p:nvSpPr>
          <p:cNvPr id="46" name="Oval 45"/>
          <p:cNvSpPr/>
          <p:nvPr/>
        </p:nvSpPr>
        <p:spPr>
          <a:xfrm>
            <a:off x="5306468" y="3102987"/>
            <a:ext cx="145774" cy="14577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/>
          <p:cNvSpPr/>
          <p:nvPr/>
        </p:nvSpPr>
        <p:spPr>
          <a:xfrm>
            <a:off x="6701730" y="3525593"/>
            <a:ext cx="145774" cy="14577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/>
          <p:cNvSpPr/>
          <p:nvPr/>
        </p:nvSpPr>
        <p:spPr>
          <a:xfrm>
            <a:off x="6146326" y="2760657"/>
            <a:ext cx="145774" cy="14577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Gerade Verbindung mit Pfeil 48"/>
          <p:cNvCxnSpPr/>
          <p:nvPr/>
        </p:nvCxnSpPr>
        <p:spPr>
          <a:xfrm flipV="1">
            <a:off x="4348528" y="2641388"/>
            <a:ext cx="0" cy="3167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ihandform 49"/>
          <p:cNvSpPr/>
          <p:nvPr/>
        </p:nvSpPr>
        <p:spPr>
          <a:xfrm>
            <a:off x="8485659" y="2825086"/>
            <a:ext cx="3629025" cy="2800350"/>
          </a:xfrm>
          <a:custGeom>
            <a:avLst/>
            <a:gdLst>
              <a:gd name="connsiteX0" fmla="*/ 0 w 3629025"/>
              <a:gd name="connsiteY0" fmla="*/ 642938 h 2800350"/>
              <a:gd name="connsiteX1" fmla="*/ 14287 w 3629025"/>
              <a:gd name="connsiteY1" fmla="*/ 14288 h 2800350"/>
              <a:gd name="connsiteX2" fmla="*/ 485775 w 3629025"/>
              <a:gd name="connsiteY2" fmla="*/ 0 h 2800350"/>
              <a:gd name="connsiteX3" fmla="*/ 3629025 w 3629025"/>
              <a:gd name="connsiteY3" fmla="*/ 1857375 h 2800350"/>
              <a:gd name="connsiteX4" fmla="*/ 3629025 w 3629025"/>
              <a:gd name="connsiteY4" fmla="*/ 2800350 h 2800350"/>
              <a:gd name="connsiteX5" fmla="*/ 2443162 w 3629025"/>
              <a:gd name="connsiteY5" fmla="*/ 2800350 h 2800350"/>
              <a:gd name="connsiteX6" fmla="*/ 0 w 3629025"/>
              <a:gd name="connsiteY6" fmla="*/ 642938 h 280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29025" h="2800350">
                <a:moveTo>
                  <a:pt x="0" y="642938"/>
                </a:moveTo>
                <a:lnTo>
                  <a:pt x="14287" y="14288"/>
                </a:lnTo>
                <a:lnTo>
                  <a:pt x="485775" y="0"/>
                </a:lnTo>
                <a:lnTo>
                  <a:pt x="3629025" y="1857375"/>
                </a:lnTo>
                <a:lnTo>
                  <a:pt x="3629025" y="2800350"/>
                </a:lnTo>
                <a:lnTo>
                  <a:pt x="2443162" y="2800350"/>
                </a:lnTo>
                <a:lnTo>
                  <a:pt x="0" y="6429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1" name="Gerade Verbindung mit Pfeil 50"/>
          <p:cNvCxnSpPr/>
          <p:nvPr/>
        </p:nvCxnSpPr>
        <p:spPr>
          <a:xfrm flipH="1" flipV="1">
            <a:off x="8287777" y="3261444"/>
            <a:ext cx="2841069" cy="2522627"/>
          </a:xfrm>
          <a:prstGeom prst="straightConnector1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Gerade Verbindung mit Pfeil 51"/>
          <p:cNvCxnSpPr/>
          <p:nvPr/>
        </p:nvCxnSpPr>
        <p:spPr>
          <a:xfrm flipH="1" flipV="1">
            <a:off x="8963898" y="2881314"/>
            <a:ext cx="3279786" cy="1837716"/>
          </a:xfrm>
          <a:prstGeom prst="straightConnector1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Gerade Verbindung mit Pfeil 52"/>
          <p:cNvCxnSpPr/>
          <p:nvPr/>
        </p:nvCxnSpPr>
        <p:spPr>
          <a:xfrm>
            <a:off x="8287776" y="5621603"/>
            <a:ext cx="3955907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963898" y="3914643"/>
            <a:ext cx="145774" cy="145774"/>
          </a:xfrm>
          <a:prstGeom prst="ellipse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/>
          <p:cNvSpPr/>
          <p:nvPr/>
        </p:nvSpPr>
        <p:spPr>
          <a:xfrm>
            <a:off x="9734372" y="4519184"/>
            <a:ext cx="145774" cy="145774"/>
          </a:xfrm>
          <a:prstGeom prst="ellipse">
            <a:avLst/>
          </a:prstGeom>
          <a:solidFill>
            <a:srgbClr val="00B0F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GB"/>
          </a:p>
        </p:txBody>
      </p:sp>
      <p:sp>
        <p:nvSpPr>
          <p:cNvPr id="58" name="Oval 57"/>
          <p:cNvSpPr/>
          <p:nvPr/>
        </p:nvSpPr>
        <p:spPr>
          <a:xfrm>
            <a:off x="11563343" y="4295254"/>
            <a:ext cx="145774" cy="14577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GB"/>
          </a:p>
        </p:txBody>
      </p:sp>
      <p:sp>
        <p:nvSpPr>
          <p:cNvPr id="59" name="Oval 58"/>
          <p:cNvSpPr/>
          <p:nvPr/>
        </p:nvSpPr>
        <p:spPr>
          <a:xfrm>
            <a:off x="9464376" y="3077870"/>
            <a:ext cx="145774" cy="14577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2" name="Gerade Verbindung mit Pfeil 61"/>
          <p:cNvCxnSpPr/>
          <p:nvPr/>
        </p:nvCxnSpPr>
        <p:spPr>
          <a:xfrm flipV="1">
            <a:off x="8506436" y="2616271"/>
            <a:ext cx="0" cy="3167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1376618" y="5123650"/>
            <a:ext cx="145774" cy="14577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Oval 63"/>
          <p:cNvSpPr/>
          <p:nvPr/>
        </p:nvSpPr>
        <p:spPr>
          <a:xfrm>
            <a:off x="957515" y="5204612"/>
            <a:ext cx="145774" cy="14577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Oval 64"/>
          <p:cNvSpPr/>
          <p:nvPr/>
        </p:nvSpPr>
        <p:spPr>
          <a:xfrm>
            <a:off x="1024189" y="4871234"/>
            <a:ext cx="145774" cy="14577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Box 3"/>
          <p:cNvSpPr txBox="1"/>
          <p:nvPr/>
        </p:nvSpPr>
        <p:spPr>
          <a:xfrm>
            <a:off x="4816475" y="6372860"/>
            <a:ext cx="2559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 dirty="0">
                <a:sym typeface="+mn-ea"/>
              </a:rPr>
              <a:t>Taken </a:t>
            </a:r>
            <a:r>
              <a:rPr lang="en-US" altLang="en-GB" sz="1200" dirty="0">
                <a:sym typeface="+mn-ea"/>
              </a:rPr>
              <a:t>from </a:t>
            </a:r>
            <a:r>
              <a:rPr lang="en-GB" sz="1200" dirty="0">
                <a:sym typeface="+mn-ea"/>
              </a:rPr>
              <a:t>Tobias Ritschel </a:t>
            </a:r>
            <a:r>
              <a:rPr lang="en-US" altLang="en-GB" sz="1200" dirty="0">
                <a:sym typeface="+mn-ea"/>
              </a:rPr>
              <a:t>Slides</a:t>
            </a:r>
            <a:endParaRPr lang="en-US" altLang="en-GB" sz="1200" dirty="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Kernel Trick, Definitions 2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Remember the dual form of the SVM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  <a:p>
            <a:r>
              <a:rPr lang="en-GB" dirty="0"/>
              <a:t>We can now use</a:t>
            </a:r>
            <a:endParaRPr lang="en-GB" dirty="0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1025" y="2493244"/>
            <a:ext cx="3727140" cy="964102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984" y="4258029"/>
            <a:ext cx="9160030" cy="960542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816475" y="6372860"/>
            <a:ext cx="2559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 sz="1200" dirty="0">
                <a:sym typeface="+mn-ea"/>
              </a:rPr>
              <a:t>Taken </a:t>
            </a:r>
            <a:r>
              <a:rPr lang="en-US" altLang="en-GB" sz="1200" dirty="0">
                <a:sym typeface="+mn-ea"/>
              </a:rPr>
              <a:t>from </a:t>
            </a:r>
            <a:r>
              <a:rPr lang="en-GB" sz="1200" dirty="0">
                <a:sym typeface="+mn-ea"/>
              </a:rPr>
              <a:t>Tobias Ritschel </a:t>
            </a:r>
            <a:r>
              <a:rPr lang="en-US" altLang="en-GB" sz="1200" dirty="0">
                <a:sym typeface="+mn-ea"/>
              </a:rPr>
              <a:t>Slides</a:t>
            </a:r>
            <a:endParaRPr lang="en-US" altLang="en-GB" sz="1200" dirty="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Kernels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Any function </a:t>
            </a:r>
            <a:r>
              <a:rPr lang="en-GB" dirty="0">
                <a:latin typeface="Times" pitchFamily="2" charset="0"/>
              </a:rPr>
              <a:t>𝜅(</a:t>
            </a:r>
            <a:r>
              <a:rPr lang="en-GB" b="1" dirty="0">
                <a:latin typeface="Times" pitchFamily="2" charset="0"/>
              </a:rPr>
              <a:t>x</a:t>
            </a:r>
            <a:r>
              <a:rPr lang="en-GB" baseline="-25000" dirty="0">
                <a:latin typeface="Times" pitchFamily="2" charset="0"/>
              </a:rPr>
              <a:t>1</a:t>
            </a:r>
            <a:r>
              <a:rPr lang="en-GB" dirty="0">
                <a:latin typeface="Times" pitchFamily="2" charset="0"/>
              </a:rPr>
              <a:t>, </a:t>
            </a:r>
            <a:r>
              <a:rPr lang="en-GB" b="1" dirty="0">
                <a:latin typeface="Times" pitchFamily="2" charset="0"/>
              </a:rPr>
              <a:t>x</a:t>
            </a:r>
            <a:r>
              <a:rPr lang="en-GB" baseline="-25000" dirty="0">
                <a:latin typeface="Times" pitchFamily="2" charset="0"/>
              </a:rPr>
              <a:t>2</a:t>
            </a:r>
            <a:r>
              <a:rPr lang="en-GB" dirty="0">
                <a:latin typeface="Times" pitchFamily="2" charset="0"/>
              </a:rPr>
              <a:t>)</a:t>
            </a:r>
            <a:r>
              <a:rPr lang="en-GB" dirty="0"/>
              <a:t> is a kernel, as long its kernel matrix is </a:t>
            </a:r>
            <a:r>
              <a:rPr lang="de-DE" b="1" dirty="0" err="1"/>
              <a:t>symmetric</a:t>
            </a:r>
            <a:r>
              <a:rPr lang="de-DE" b="1" dirty="0"/>
              <a:t> positive semi-definite</a:t>
            </a:r>
            <a:endParaRPr lang="en-GB" b="1" dirty="0"/>
          </a:p>
          <a:p>
            <a:r>
              <a:rPr lang="en-GB" dirty="0"/>
              <a:t>Other kernels: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Polynomial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Radial basis function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Sigmoid</a:t>
            </a:r>
            <a:endParaRPr lang="en-GB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0210" y="3151350"/>
            <a:ext cx="4700544" cy="46958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416" y="4021693"/>
            <a:ext cx="5687658" cy="843469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230" y="5382207"/>
            <a:ext cx="6256424" cy="460853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4816475" y="6372860"/>
            <a:ext cx="2559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 dirty="0">
                <a:sym typeface="+mn-ea"/>
              </a:rPr>
              <a:t>Taken </a:t>
            </a:r>
            <a:r>
              <a:rPr lang="en-US" altLang="en-GB" sz="1200" dirty="0">
                <a:sym typeface="+mn-ea"/>
              </a:rPr>
              <a:t>from </a:t>
            </a:r>
            <a:r>
              <a:rPr lang="en-GB" sz="1200" dirty="0">
                <a:sym typeface="+mn-ea"/>
              </a:rPr>
              <a:t>Tobias Ritschel </a:t>
            </a:r>
            <a:r>
              <a:rPr lang="en-US" altLang="en-GB" sz="1200" dirty="0">
                <a:sym typeface="+mn-ea"/>
              </a:rPr>
              <a:t>Slides</a:t>
            </a:r>
            <a:endParaRPr lang="en-US" altLang="en-GB" sz="1200" dirty="0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Classification Metrics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Once we have classifier we need to </a:t>
            </a:r>
            <a:r>
              <a:rPr lang="en-US" altLang="en-US" b="1"/>
              <a:t>numerically </a:t>
            </a:r>
            <a:r>
              <a:rPr lang="en-US" altLang="en-US"/>
              <a:t>evaluate it.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How</a:t>
            </a:r>
            <a:r>
              <a:rPr lang="" altLang="en-US"/>
              <a:t>?</a:t>
            </a:r>
            <a:endParaRPr lang="" altLang="en-US"/>
          </a:p>
          <a:p>
            <a:pPr lvl="1"/>
            <a:r>
              <a:rPr lang="en-US" altLang="en-US">
                <a:sym typeface="+mn-ea"/>
              </a:rPr>
              <a:t>Confusion Matrix</a:t>
            </a:r>
            <a:endParaRPr lang="en-US" altLang="en-US"/>
          </a:p>
          <a:p>
            <a:pPr lvl="1"/>
            <a:r>
              <a:rPr lang="en-US" altLang="en-US"/>
              <a:t>Accuracy</a:t>
            </a:r>
            <a:endParaRPr lang="en-US" altLang="en-US"/>
          </a:p>
          <a:p>
            <a:pPr lvl="1"/>
            <a:r>
              <a:rPr lang="en-US" altLang="en-US"/>
              <a:t>Precision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Confusion Matrix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3578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" altLang="en-US"/>
              <a:t>			Give a complete overview of model performances</a:t>
            </a:r>
            <a:endParaRPr lang="" altLang="en-US"/>
          </a:p>
          <a:p>
            <a:endParaRPr lang="" altLang="en-US"/>
          </a:p>
          <a:p>
            <a:pPr lvl="0"/>
            <a:r>
              <a:rPr lang="" altLang="en-US"/>
              <a:t>How many </a:t>
            </a:r>
            <a:r>
              <a:rPr lang="en-US" altLang="en-US">
                <a:sym typeface="+mn-ea"/>
              </a:rPr>
              <a:t>sample </a:t>
            </a:r>
            <a:r>
              <a:rPr lang="en-US" altLang="en-US" b="1">
                <a:sym typeface="+mn-ea"/>
              </a:rPr>
              <a:t>positive </a:t>
            </a:r>
            <a:r>
              <a:rPr lang="" altLang="en-US">
                <a:sym typeface="+mn-ea"/>
              </a:rPr>
              <a:t>are </a:t>
            </a:r>
            <a:r>
              <a:rPr lang="en-US" altLang="en-US">
                <a:sym typeface="+mn-ea"/>
              </a:rPr>
              <a:t>predicted </a:t>
            </a:r>
            <a:r>
              <a:rPr lang="en-US" altLang="en-US" b="1">
                <a:sym typeface="+mn-ea"/>
              </a:rPr>
              <a:t>positive</a:t>
            </a:r>
            <a:r>
              <a:rPr lang="" altLang="en-US">
                <a:sym typeface="+mn-ea"/>
              </a:rPr>
              <a:t>?		</a:t>
            </a:r>
            <a:r>
              <a:rPr lang="" altLang="en-US" b="1">
                <a:sym typeface="+mn-ea"/>
              </a:rPr>
              <a:t>TP</a:t>
            </a:r>
            <a:endParaRPr lang="" altLang="en-US">
              <a:sym typeface="+mn-ea"/>
            </a:endParaRPr>
          </a:p>
          <a:p>
            <a:pPr lvl="0"/>
            <a:r>
              <a:rPr lang="en-US" altLang="en-US">
                <a:sym typeface="+mn-ea"/>
              </a:rPr>
              <a:t>How many </a:t>
            </a:r>
            <a:r>
              <a:rPr lang="en-US" altLang="en-US">
                <a:sym typeface="+mn-ea"/>
              </a:rPr>
              <a:t>sample </a:t>
            </a:r>
            <a:r>
              <a:rPr lang="" altLang="en-US" b="1">
                <a:sym typeface="+mn-ea"/>
              </a:rPr>
              <a:t>negative </a:t>
            </a:r>
            <a:r>
              <a:rPr lang="en-US" altLang="en-US">
                <a:sym typeface="+mn-ea"/>
              </a:rPr>
              <a:t>are predicted </a:t>
            </a:r>
            <a:r>
              <a:rPr lang="" altLang="en-US" b="1">
                <a:sym typeface="+mn-ea"/>
              </a:rPr>
              <a:t>negative</a:t>
            </a:r>
            <a:r>
              <a:rPr lang="en-US" altLang="en-US">
                <a:sym typeface="+mn-ea"/>
              </a:rPr>
              <a:t>?</a:t>
            </a:r>
            <a:r>
              <a:rPr lang="" altLang="en-US">
                <a:sym typeface="+mn-ea"/>
              </a:rPr>
              <a:t>		</a:t>
            </a:r>
            <a:r>
              <a:rPr lang="" altLang="en-US" b="1">
                <a:sym typeface="+mn-ea"/>
              </a:rPr>
              <a:t>TN</a:t>
            </a:r>
            <a:endParaRPr lang="" altLang="en-US">
              <a:sym typeface="+mn-ea"/>
            </a:endParaRPr>
          </a:p>
          <a:p>
            <a:pPr lvl="0"/>
            <a:r>
              <a:rPr lang="en-US" altLang="en-US">
                <a:sym typeface="+mn-ea"/>
              </a:rPr>
              <a:t>How many </a:t>
            </a:r>
            <a:r>
              <a:rPr lang="en-US" altLang="en-US">
                <a:sym typeface="+mn-ea"/>
              </a:rPr>
              <a:t>sample </a:t>
            </a:r>
            <a:r>
              <a:rPr lang="en-US" altLang="en-US" b="1">
                <a:sym typeface="+mn-ea"/>
              </a:rPr>
              <a:t>positive </a:t>
            </a:r>
            <a:r>
              <a:rPr lang="en-US" altLang="en-US">
                <a:sym typeface="+mn-ea"/>
              </a:rPr>
              <a:t>are predicted </a:t>
            </a:r>
            <a:r>
              <a:rPr lang="" altLang="en-US" b="1">
                <a:sym typeface="+mn-ea"/>
              </a:rPr>
              <a:t>negative</a:t>
            </a:r>
            <a:r>
              <a:rPr lang="en-US" altLang="en-US">
                <a:sym typeface="+mn-ea"/>
              </a:rPr>
              <a:t>?</a:t>
            </a:r>
            <a:r>
              <a:rPr lang="" altLang="en-US">
                <a:sym typeface="+mn-ea"/>
              </a:rPr>
              <a:t>		</a:t>
            </a:r>
            <a:r>
              <a:rPr lang="" altLang="en-US" b="1">
                <a:sym typeface="+mn-ea"/>
              </a:rPr>
              <a:t>FP</a:t>
            </a:r>
            <a:endParaRPr lang="en-US" altLang="en-US">
              <a:sym typeface="+mn-ea"/>
            </a:endParaRPr>
          </a:p>
          <a:p>
            <a:pPr lvl="0"/>
            <a:r>
              <a:rPr lang="en-US" altLang="en-US">
                <a:sym typeface="+mn-ea"/>
              </a:rPr>
              <a:t>How many </a:t>
            </a:r>
            <a:r>
              <a:rPr lang="en-US" altLang="en-US">
                <a:sym typeface="+mn-ea"/>
              </a:rPr>
              <a:t>sample </a:t>
            </a:r>
            <a:r>
              <a:rPr lang="" altLang="en-US" b="1">
                <a:sym typeface="+mn-ea"/>
              </a:rPr>
              <a:t>negative </a:t>
            </a:r>
            <a:r>
              <a:rPr lang="en-US" altLang="en-US">
                <a:sym typeface="+mn-ea"/>
              </a:rPr>
              <a:t>are predicted </a:t>
            </a:r>
            <a:r>
              <a:rPr lang="en-US" altLang="en-US" b="1">
                <a:sym typeface="+mn-ea"/>
              </a:rPr>
              <a:t>positive</a:t>
            </a:r>
            <a:r>
              <a:rPr lang="en-US" altLang="en-US">
                <a:sym typeface="+mn-ea"/>
              </a:rPr>
              <a:t>?</a:t>
            </a:r>
            <a:r>
              <a:rPr lang="" altLang="en-US">
                <a:sym typeface="+mn-ea"/>
              </a:rPr>
              <a:t>		</a:t>
            </a:r>
            <a:r>
              <a:rPr lang="" altLang="en-US" b="1">
                <a:sym typeface="+mn-ea"/>
              </a:rPr>
              <a:t>FN</a:t>
            </a:r>
            <a:endParaRPr lang="en-US" altLang="en-US" sz="2220">
              <a:sym typeface="+mn-ea"/>
            </a:endParaRPr>
          </a:p>
          <a:p>
            <a:pPr lvl="0"/>
            <a:endParaRPr lang="en-US" altLang="en-US" sz="2220">
              <a:sym typeface="+mn-ea"/>
            </a:endParaRPr>
          </a:p>
          <a:p>
            <a:pPr lvl="0"/>
            <a:endParaRPr lang="" altLang="en-US" sz="2220">
              <a:sym typeface="+mn-ea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4575175" y="4535170"/>
          <a:ext cx="3041650" cy="1774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825"/>
                <a:gridCol w="1520825"/>
              </a:tblGrid>
              <a:tr h="887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" altLang="en-US"/>
                        <a:t>TP</a:t>
                      </a:r>
                      <a:endParaRPr lang="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" altLang="en-US"/>
                        <a:t>FP</a:t>
                      </a:r>
                      <a:endParaRPr lang="" altLang="en-US"/>
                    </a:p>
                  </a:txBody>
                  <a:tcPr anchor="ctr" anchorCtr="0"/>
                </a:tc>
              </a:tr>
              <a:tr h="887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" altLang="en-US"/>
                        <a:t>FN</a:t>
                      </a:r>
                      <a:endParaRPr lang="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" altLang="en-US"/>
                        <a:t>TN</a:t>
                      </a:r>
                      <a:endParaRPr lang="" altLang="en-US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2731770" y="5238115"/>
            <a:ext cx="1496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/>
              <a:t>Predictions</a:t>
            </a:r>
            <a:endParaRPr lang="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5595620" y="6420485"/>
            <a:ext cx="1001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/>
              <a:t>Targets</a:t>
            </a:r>
            <a:endParaRPr lang="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4188460" y="4733925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/>
              <a:t>1</a:t>
            </a:r>
            <a:endParaRPr lang="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4191635" y="561340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/>
              <a:t>0</a:t>
            </a:r>
            <a:endParaRPr lang="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5245735" y="630936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1</a:t>
            </a:r>
            <a:endParaRPr lang="en-US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6766560" y="630936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0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Confusion Matrix </a:t>
            </a:r>
            <a:r>
              <a:rPr lang="" altLang="en-US"/>
              <a:t>(few notes)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35785"/>
            <a:ext cx="10515600" cy="4351338"/>
          </a:xfrm>
        </p:spPr>
        <p:txBody>
          <a:bodyPr/>
          <a:p>
            <a:r>
              <a:rPr lang="" altLang="en-US"/>
              <a:t>Entries order can change!</a:t>
            </a:r>
            <a:endParaRPr lang="" altLang="en-US"/>
          </a:p>
          <a:p>
            <a:r>
              <a:rPr lang="" altLang="en-US"/>
              <a:t>Axis can be swapped!</a:t>
            </a:r>
            <a:endParaRPr lang="" altLang="en-US"/>
          </a:p>
          <a:p>
            <a:pPr lvl="1"/>
            <a:r>
              <a:rPr lang="" altLang="en-US" b="1"/>
              <a:t>Always specify axis and values</a:t>
            </a:r>
            <a:endParaRPr lang="" altLang="en-US"/>
          </a:p>
          <a:p>
            <a:endParaRPr lang="" altLang="en-US"/>
          </a:p>
          <a:p>
            <a:r>
              <a:rPr lang="" altLang="en-US"/>
              <a:t>Matrix show works for binary, can be extended to multi-class.</a:t>
            </a:r>
            <a:endParaRPr lang="en-US" altLang="en-US"/>
          </a:p>
          <a:p>
            <a:pPr marL="0" lvl="0" indent="0">
              <a:buNone/>
            </a:pPr>
            <a:endParaRPr lang="en-US" altLang="en-US" sz="2220">
              <a:sym typeface="+mn-ea"/>
            </a:endParaRPr>
          </a:p>
          <a:p>
            <a:pPr lvl="0"/>
            <a:endParaRPr lang="en-US" altLang="en-US" sz="2220">
              <a:sym typeface="+mn-ea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4575175" y="4535170"/>
          <a:ext cx="3041650" cy="1774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825"/>
                <a:gridCol w="1520825"/>
              </a:tblGrid>
              <a:tr h="887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TP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FP</a:t>
                      </a:r>
                      <a:endParaRPr lang="en-US" altLang="en-US"/>
                    </a:p>
                  </a:txBody>
                  <a:tcPr anchor="ctr" anchorCtr="0"/>
                </a:tc>
              </a:tr>
              <a:tr h="887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FN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TN</a:t>
                      </a:r>
                      <a:endParaRPr lang="en-US" altLang="en-US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2731770" y="5238115"/>
            <a:ext cx="1496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Predictions</a:t>
            </a: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5595620" y="6420485"/>
            <a:ext cx="1001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Targets</a:t>
            </a:r>
            <a:endParaRPr lang="en-US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4188460" y="4733925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1</a:t>
            </a:r>
            <a:endParaRPr lang="en-US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4191635" y="561340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0</a:t>
            </a: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5245735" y="630936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1</a:t>
            </a:r>
            <a:endParaRPr lang="en-US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6766560" y="630936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0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Accuracy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" altLang="en-US"/>
                  <a:t>			How many </a:t>
                </a:r>
                <a:r>
                  <a:rPr lang="" altLang="en-US" b="1"/>
                  <a:t>correct predictions</a:t>
                </a:r>
                <a:r>
                  <a:rPr lang="" altLang="en-US"/>
                  <a:t> do we have?</a:t>
                </a:r>
                <a:endParaRPr lang="" altLang="en-US"/>
              </a:p>
              <a:p>
                <a:endParaRPr lang="" altLang="en-US"/>
              </a:p>
              <a:p>
                <a:r>
                  <a:rPr lang="" altLang="en-US"/>
                  <a:t>The key is </a:t>
                </a:r>
                <a:r>
                  <a:rPr lang="" altLang="en-US" b="1"/>
                  <a:t>correct</a:t>
                </a:r>
                <a:endParaRPr lang="" altLang="en-US" b="1"/>
              </a:p>
              <a:p>
                <a:pPr lvl="1"/>
                <a:r>
                  <a:rPr lang="" altLang="en-US" sz="1800"/>
                  <a:t>sample positive predicted positive (TP)</a:t>
                </a:r>
                <a:endParaRPr lang="" altLang="en-US" sz="1800"/>
              </a:p>
              <a:p>
                <a:pPr lvl="1"/>
                <a:r>
                  <a:rPr lang="en-US" altLang="en-US">
                    <a:sym typeface="+mn-ea"/>
                  </a:rPr>
                  <a:t>sample </a:t>
                </a:r>
                <a:r>
                  <a:rPr lang="" altLang="en-US">
                    <a:sym typeface="+mn-ea"/>
                  </a:rPr>
                  <a:t>negative </a:t>
                </a:r>
                <a:r>
                  <a:rPr lang="en-US" altLang="en-US">
                    <a:sym typeface="+mn-ea"/>
                  </a:rPr>
                  <a:t>predicted </a:t>
                </a:r>
                <a:r>
                  <a:rPr lang="" altLang="en-US">
                    <a:sym typeface="+mn-ea"/>
                  </a:rPr>
                  <a:t>negative (TN)</a:t>
                </a:r>
                <a:endParaRPr lang="" altLang="en-US">
                  <a:sym typeface="+mn-ea"/>
                </a:endParaRPr>
              </a:p>
              <a:p>
                <a:pPr lvl="1"/>
                <a:r>
                  <a:rPr lang="" altLang="en-US">
                    <a:sym typeface="+mn-ea"/>
                  </a:rPr>
                  <a:t>compare to total number of samples</a:t>
                </a:r>
                <a:endParaRPr lang="" altLang="en-US">
                  <a:sym typeface="+mn-ea"/>
                </a:endParaRPr>
              </a:p>
              <a:p>
                <a:pPr lvl="1"/>
                <a:endParaRPr lang="" altLang="en-US" i="1">
                  <a:latin typeface="DejaVu Math TeX Gyre" panose="02000503000000000000" charset="0"/>
                  <a:cs typeface="DejaVu Math TeX Gyre" panose="02000503000000000000" charset="0"/>
                  <a:sym typeface="+mn-ea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" i="1">
                          <a:latin typeface="DejaVu Math TeX Gyre" panose="02000503000000000000" charset="0"/>
                          <a:cs typeface="DejaVu Math TeX Gyre" panose="02000503000000000000" charset="0"/>
                          <a:sym typeface="+mn-ea"/>
                        </a:rPr>
                        <m:t>𝐴</m:t>
                      </m:r>
                      <m:r>
                        <a:rPr lang="en-US" altLang="" i="1">
                          <a:latin typeface="DejaVu Math TeX Gyre" panose="02000503000000000000" charset="0"/>
                          <a:cs typeface="DejaVu Math TeX Gyre" panose="02000503000000000000" charset="0"/>
                          <a:sym typeface="+mn-ea"/>
                        </a:rPr>
                        <m:t> = </m:t>
                      </m:r>
                      <m:f>
                        <m:fPr>
                          <m:ctrlPr>
                            <a:rPr lang="en-US" altLang="" i="1">
                              <a:latin typeface="DejaVu Math TeX Gyre" panose="02000503000000000000" charset="0"/>
                              <a:cs typeface="DejaVu Math TeX Gyre" panose="02000503000000000000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" i="1">
                              <a:latin typeface="DejaVu Math TeX Gyre" panose="02000503000000000000" charset="0"/>
                              <a:cs typeface="DejaVu Math TeX Gyre" panose="02000503000000000000" charset="0"/>
                              <a:sym typeface="+mn-ea"/>
                            </a:rPr>
                            <m:t>𝑇𝑃</m:t>
                          </m:r>
                          <m:r>
                            <a:rPr lang="en-US" altLang="" i="1">
                              <a:latin typeface="DejaVu Math TeX Gyre" panose="02000503000000000000" charset="0"/>
                              <a:cs typeface="DejaVu Math TeX Gyre" panose="02000503000000000000" charset="0"/>
                              <a:sym typeface="+mn-ea"/>
                            </a:rPr>
                            <m:t>+</m:t>
                          </m:r>
                          <m:r>
                            <a:rPr lang="en-US" altLang="" i="1">
                              <a:latin typeface="DejaVu Math TeX Gyre" panose="02000503000000000000" charset="0"/>
                              <a:cs typeface="DejaVu Math TeX Gyre" panose="02000503000000000000" charset="0"/>
                              <a:sym typeface="+mn-ea"/>
                            </a:rPr>
                            <m:t>𝑇𝑁</m:t>
                          </m:r>
                        </m:num>
                        <m:den>
                          <m:r>
                            <a:rPr lang="en-US" altLang="" i="1">
                              <a:latin typeface="DejaVu Math TeX Gyre" panose="02000503000000000000" charset="0"/>
                              <a:cs typeface="DejaVu Math TeX Gyre" panose="02000503000000000000" charset="0"/>
                              <a:sym typeface="+mn-ea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" altLang="en-US" b="1"/>
              </a:p>
              <a:p>
                <a:endParaRPr lang="" altLang="en-US" b="1"/>
              </a:p>
              <a:p>
                <a:r>
                  <a:rPr lang="" altLang="en-US"/>
                  <a:t>What happens when the dataset is unbalanced? (#P &gt; #N)</a:t>
                </a:r>
                <a:endParaRPr lang="" altLang="en-US" b="1"/>
              </a:p>
              <a:p>
                <a:endParaRPr lang="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Precision</a:t>
            </a:r>
            <a:endParaRPr lang="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			How many </a:t>
                </a:r>
                <a:r>
                  <a:rPr lang="" altLang="en-US" b="1"/>
                  <a:t>positive</a:t>
                </a:r>
                <a:r>
                  <a:rPr lang="en-US" altLang="en-US" b="1"/>
                  <a:t> predictions</a:t>
                </a:r>
                <a:r>
                  <a:rPr lang="en-US" altLang="en-US"/>
                  <a:t> do we have?</a:t>
                </a:r>
                <a:endParaRPr lang="en-US" altLang="en-US"/>
              </a:p>
              <a:p>
                <a:endParaRPr lang="en-US" altLang="en-US"/>
              </a:p>
              <a:p>
                <a:r>
                  <a:rPr lang="en-US" altLang="en-US"/>
                  <a:t>The key is </a:t>
                </a:r>
                <a:r>
                  <a:rPr lang="" altLang="en-US" b="1"/>
                  <a:t>positive</a:t>
                </a:r>
                <a:endParaRPr lang="en-US" altLang="en-US" b="1"/>
              </a:p>
              <a:p>
                <a:pPr lvl="1"/>
                <a:r>
                  <a:rPr lang="en-US" altLang="en-US" sz="1800"/>
                  <a:t>sample positive predicted positive (TP)</a:t>
                </a:r>
                <a:endParaRPr lang="en-US" altLang="en-US" sz="1800"/>
              </a:p>
              <a:p>
                <a:pPr lvl="1"/>
                <a:r>
                  <a:rPr lang="en-US" altLang="en-US">
                    <a:sym typeface="+mn-ea"/>
                  </a:rPr>
                  <a:t>compare to </a:t>
                </a:r>
                <a:r>
                  <a:rPr lang="" altLang="en-US">
                    <a:sym typeface="+mn-ea"/>
                  </a:rPr>
                  <a:t>positive predicted </a:t>
                </a:r>
                <a:r>
                  <a:rPr lang="en-US" altLang="en-US">
                    <a:sym typeface="+mn-ea"/>
                  </a:rPr>
                  <a:t>samples </a:t>
                </a:r>
                <a:r>
                  <a:rPr lang="" altLang="en-US">
                    <a:sym typeface="+mn-ea"/>
                  </a:rPr>
                  <a:t>(TP+FP)</a:t>
                </a:r>
                <a:endParaRPr lang="en-US" altLang="en-US">
                  <a:sym typeface="+mn-ea"/>
                </a:endParaRPr>
              </a:p>
              <a:p>
                <a:pPr lvl="1"/>
                <a:endParaRPr lang="en-US" altLang="en-US" i="1">
                  <a:latin typeface="DejaVu Math TeX Gyre" panose="02000503000000000000" charset="0"/>
                  <a:cs typeface="DejaVu Math TeX Gyre" panose="02000503000000000000" charset="0"/>
                  <a:sym typeface="+mn-ea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DejaVu Math TeX Gyre" panose="02000503000000000000" charset="0"/>
                          <a:cs typeface="DejaVu Math TeX Gyre" panose="02000503000000000000" charset="0"/>
                          <a:sym typeface="+mn-ea"/>
                        </a:rPr>
                        <m:t>𝑃</m:t>
                      </m:r>
                      <m:r>
                        <a:rPr lang="en-US" altLang="en-US" i="1">
                          <a:latin typeface="DejaVu Math TeX Gyre" panose="02000503000000000000" charset="0"/>
                          <a:cs typeface="DejaVu Math TeX Gyre" panose="02000503000000000000" charset="0"/>
                          <a:sym typeface="+mn-ea"/>
                        </a:rPr>
                        <m:t> = </m:t>
                      </m:r>
                      <m:f>
                        <m:fPr>
                          <m:ctrlP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  <a:sym typeface="+mn-ea"/>
                            </a:rPr>
                            <m:t>𝑇𝑃</m:t>
                          </m:r>
                        </m:num>
                        <m:den>
                          <m: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  <a:sym typeface="+mn-ea"/>
                            </a:rPr>
                            <m:t>𝑇𝑃</m:t>
                          </m:r>
                          <m: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  <a:sym typeface="+mn-ea"/>
                            </a:rPr>
                            <m:t>+</m:t>
                          </m:r>
                          <m: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  <a:sym typeface="+mn-ea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altLang="en-US" b="1"/>
              </a:p>
              <a:p>
                <a:endParaRPr lang="en-US" altLang="en-US" b="1"/>
              </a:p>
              <a:p>
                <a:r>
                  <a:rPr lang="en-US" altLang="en-US">
                    <a:sym typeface="+mn-ea"/>
                  </a:rPr>
                  <a:t>What happens when the dataset is unbalanced? (#P &gt; #N)</a:t>
                </a:r>
                <a:endParaRPr lang="en-US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There are many more measure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" altLang="en-US"/>
              <a:t>There are plenty measure to quantify the quality of your model</a:t>
            </a:r>
            <a:endParaRPr lang="" altLang="en-US"/>
          </a:p>
          <a:p>
            <a:pPr lvl="1"/>
            <a:r>
              <a:rPr lang="" altLang="en-US"/>
              <a:t>Recall</a:t>
            </a:r>
            <a:endParaRPr lang="" altLang="en-US"/>
          </a:p>
          <a:p>
            <a:pPr lvl="1"/>
            <a:r>
              <a:rPr lang="" altLang="en-US"/>
              <a:t>F1 score</a:t>
            </a:r>
            <a:endParaRPr lang="" altLang="en-US"/>
          </a:p>
          <a:p>
            <a:pPr lvl="1"/>
            <a:r>
              <a:rPr lang="" altLang="en-US"/>
              <a:t>ROC curve</a:t>
            </a:r>
            <a:endParaRPr lang="" altLang="en-US"/>
          </a:p>
          <a:p>
            <a:pPr lvl="1"/>
            <a:r>
              <a:rPr lang="" altLang="en-US"/>
              <a:t>....</a:t>
            </a:r>
            <a:endParaRPr lang="" altLang="en-US"/>
          </a:p>
          <a:p>
            <a:pPr lvl="1"/>
            <a:endParaRPr lang="" altLang="en-US"/>
          </a:p>
          <a:p>
            <a:pPr lvl="0"/>
            <a:r>
              <a:rPr lang="" altLang="en-US"/>
              <a:t>We are not diving into all of them</a:t>
            </a:r>
            <a:endParaRPr lang="" altLang="en-US"/>
          </a:p>
          <a:p>
            <a:pPr lvl="0"/>
            <a:endParaRPr lang="" altLang="en-US"/>
          </a:p>
          <a:p>
            <a:pPr lvl="0"/>
            <a:r>
              <a:rPr lang="" altLang="en-US"/>
              <a:t>Note some of them are suffer in case unbalanced dataset</a:t>
            </a:r>
            <a:endParaRPr lang="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2228</Words>
  <Application>WPS Presentation</Application>
  <PresentationFormat>宽屏</PresentationFormat>
  <Paragraphs>175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Times</vt:lpstr>
      <vt:lpstr>DejaVu Sans</vt:lpstr>
      <vt:lpstr>Arial Black</vt:lpstr>
      <vt:lpstr>微软雅黑</vt:lpstr>
      <vt:lpstr>Arial Unicode MS</vt:lpstr>
      <vt:lpstr>宋体</vt:lpstr>
      <vt:lpstr>BatangChe</vt:lpstr>
      <vt:lpstr>Gubbi</vt:lpstr>
      <vt:lpstr>DejaVu Math TeX Gyre</vt:lpstr>
      <vt:lpstr>Times New Roman</vt:lpstr>
      <vt:lpstr>Office Theme</vt:lpstr>
      <vt:lpstr>Classification Lab</vt:lpstr>
      <vt:lpstr>Linear classifier</vt:lpstr>
      <vt:lpstr>Optimization</vt:lpstr>
      <vt:lpstr>PowerPoint 演示文稿</vt:lpstr>
      <vt:lpstr>PowerPoint 演示文稿</vt:lpstr>
      <vt:lpstr>Logistic Regression</vt:lpstr>
      <vt:lpstr>Support and Margin</vt:lpstr>
      <vt:lpstr>Support and Margin</vt:lpstr>
      <vt:lpstr>Kernel Trick, Definitions 2</vt:lpstr>
      <vt:lpstr>Other Kernels</vt:lpstr>
      <vt:lpstr>Classification Metrics</vt:lpstr>
      <vt:lpstr>Confusion Matrix</vt:lpstr>
      <vt:lpstr>Confusion Matrix</vt:lpstr>
      <vt:lpstr>Accuracy</vt:lpstr>
      <vt:lpstr>Accuracy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</dc:creator>
  <cp:lastModifiedBy>luca</cp:lastModifiedBy>
  <cp:revision>33</cp:revision>
  <dcterms:created xsi:type="dcterms:W3CDTF">2020-10-22T15:03:26Z</dcterms:created>
  <dcterms:modified xsi:type="dcterms:W3CDTF">2020-10-22T15:03:26Z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1033-11.1.0.9505</vt:lpwstr>
  </property>
</Properties>
</file>